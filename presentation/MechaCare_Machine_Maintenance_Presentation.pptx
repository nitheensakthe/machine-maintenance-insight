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AD2F5"/>
                </a:solidFill>
              </a:defRPr>
            </a:pPr>
            <a:r>
              <a:t>U23AD491 - DATA SCIENCE SPRINT | SKILL BASED ASSESSMENT 2</a:t>
            </a:r>
          </a:p>
          <a:p>
            <a:pPr>
              <a:spcBef>
                <a:spcPts val="1500"/>
              </a:spcBef>
              <a:defRPr sz="3600" b="1">
                <a:solidFill>
                  <a:srgbClr val="FFFFFF"/>
                </a:solidFill>
              </a:defRPr>
            </a:pPr>
            <a:r>
              <a:t>Machine Maintenance Insight</a:t>
            </a:r>
            <a:br/>
            <a:r>
              <a:t>For MechaCare Industrial Systems</a:t>
            </a:r>
          </a:p>
          <a:p>
            <a:pPr>
              <a:spcBef>
                <a:spcPts val="1500"/>
              </a:spcBef>
              <a:defRPr sz="1600">
                <a:solidFill>
                  <a:srgbClr val="DCE6F2"/>
                </a:solidFill>
              </a:defRPr>
            </a:pPr>
            <a:r>
              <a:t>Use Case 25: Operating Patterns, Sensor Degradation Signatures &amp; Equipment Prioritization</a:t>
            </a:r>
          </a:p>
          <a:p>
            <a:pPr>
              <a:spcBef>
                <a:spcPts val="2500"/>
              </a:spcBef>
              <a:defRPr sz="1200">
                <a:solidFill>
                  <a:srgbClr val="BECDE1"/>
                </a:solidFill>
              </a:defRPr>
            </a:pPr>
            <a:r>
              <a:t>Author: Nitheen Sakthe P E | Role: Lead Data Scientist &amp; Maintenance Reliability Analyst</a:t>
            </a:r>
            <a:br/>
            <a:r>
              <a:t>Datasets: sensor.csv, machines.csv, usage.csv, alarms.csv, maintenance.csv (Q1 2026 Fleet Logs)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980B9"/>
                </a:solidFill>
              </a:defRPr>
            </a:pPr>
            <a:r>
              <a:t>MECHACARE INDUSTRIAL SYSTEMS | DATA SCIENCE ASSESSMENT 2</a:t>
            </a:r>
          </a:p>
          <a:p>
            <a:pPr>
              <a:defRPr sz="2200" b="1">
                <a:solidFill>
                  <a:srgbClr val="1F4E78"/>
                </a:solidFill>
              </a:defRPr>
            </a:pPr>
            <a:r>
              <a:t>Executive Summary: The Industrial Reliability Landscape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560320" cy="1188720"/>
          </a:xfrm>
          <a:prstGeom prst="roundRect">
            <a:avLst/>
          </a:prstGeom>
          <a:solidFill>
            <a:srgbClr val="D9E1F2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F4E78"/>
                </a:solidFill>
              </a:defRPr>
            </a:pPr>
            <a:r>
              <a:t>30 Machines</a:t>
            </a:r>
          </a:p>
          <a:p>
            <a:pPr algn="ctr">
              <a:defRPr sz="950">
                <a:solidFill>
                  <a:srgbClr val="262626"/>
                </a:solidFill>
              </a:defRPr>
            </a:pPr>
            <a:r>
              <a:t>Monitored Fleet Size across 5 Equipment Categories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0" y="1371600"/>
            <a:ext cx="2560320" cy="1188720"/>
          </a:xfrm>
          <a:prstGeom prst="roundRect">
            <a:avLst/>
          </a:prstGeom>
          <a:solidFill>
            <a:srgbClr val="D9E1F2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F4E78"/>
                </a:solidFill>
              </a:defRPr>
            </a:pPr>
            <a:r>
              <a:t>64,016 Hours</a:t>
            </a:r>
          </a:p>
          <a:p>
            <a:pPr algn="ctr">
              <a:defRPr sz="950">
                <a:solidFill>
                  <a:srgbClr val="262626"/>
                </a:solidFill>
              </a:defRPr>
            </a:pPr>
            <a:r>
              <a:t>High-frequency Sensor &amp; Usage Synchronized Grain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371600"/>
            <a:ext cx="2560320" cy="1188720"/>
          </a:xfrm>
          <a:prstGeom prst="roundRect">
            <a:avLst/>
          </a:prstGeom>
          <a:solidFill>
            <a:srgbClr val="D9E1F2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F4E78"/>
                </a:solidFill>
              </a:defRPr>
            </a:pPr>
            <a:r>
              <a:t>2,510 Alarms</a:t>
            </a:r>
          </a:p>
          <a:p>
            <a:pPr algn="ctr">
              <a:defRPr sz="950">
                <a:solidFill>
                  <a:srgbClr val="262626"/>
                </a:solidFill>
              </a:defRPr>
            </a:pPr>
            <a:r>
              <a:t>Cleaned &amp; Standardized (49.2% Critical Severity)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23960" y="1371600"/>
            <a:ext cx="2560320" cy="1188720"/>
          </a:xfrm>
          <a:prstGeom prst="roundRect">
            <a:avLst/>
          </a:prstGeom>
          <a:solidFill>
            <a:srgbClr val="D9E1F2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F4E78"/>
                </a:solidFill>
              </a:defRPr>
            </a:pPr>
            <a:r>
              <a:t>268.5 Hours</a:t>
            </a:r>
          </a:p>
          <a:p>
            <a:pPr algn="ctr">
              <a:defRPr sz="950">
                <a:solidFill>
                  <a:srgbClr val="262626"/>
                </a:solidFill>
              </a:defRPr>
            </a:pPr>
            <a:r>
              <a:t>Total Unplanned Maintenance Downtime in Q1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8"/>
                </a:solidFill>
              </a:defRPr>
            </a:pPr>
            <a:r>
              <a:t>Strategic Business Problem:</a:t>
            </a:r>
          </a:p>
          <a:p>
            <a:pPr>
              <a:spcBef>
                <a:spcPts val="800"/>
              </a:spcBef>
              <a:defRPr sz="1100">
                <a:solidFill>
                  <a:srgbClr val="262626"/>
                </a:solidFill>
              </a:defRPr>
            </a:pPr>
            <a:r>
              <a:t>• Core Question: What operating patterns indicate industrial machines that require proactive maintenance attention before catastrophic failure?</a:t>
            </a:r>
          </a:p>
          <a:p>
            <a:pPr>
              <a:spcBef>
                <a:spcPts val="800"/>
              </a:spcBef>
              <a:defRPr sz="1100">
                <a:solidFill>
                  <a:srgbClr val="262626"/>
                </a:solidFill>
              </a:defRPr>
            </a:pPr>
            <a:r>
              <a:t>• Fleet Scale: MechaCare monitors 30 industrial assets: CNC Lathes (10), Hydraulic Presses (7), Conveyors (6), Compressors (5), and Milling Machines (2).</a:t>
            </a:r>
          </a:p>
          <a:p>
            <a:pPr>
              <a:spcBef>
                <a:spcPts val="800"/>
              </a:spcBef>
              <a:defRPr sz="1100">
                <a:solidFill>
                  <a:srgbClr val="262626"/>
                </a:solidFill>
              </a:defRPr>
            </a:pPr>
            <a:r>
              <a:t>• Data Cleaning Justification: Resolved 35 duplicate sensor rows, 25 duplicate usage rows, imputed missing values using machine-specific medians, and mapped 7 inconsistent alarm strings into 3 engineering categories.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834640"/>
            <a:ext cx="5120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8"/>
                </a:solidFill>
              </a:defRPr>
            </a:pPr>
            <a:r>
              <a:t>Key Data-Driven Insights:</a:t>
            </a:r>
          </a:p>
          <a:p>
            <a:pPr>
              <a:spcBef>
                <a:spcPts val="800"/>
              </a:spcBef>
              <a:defRPr sz="1100">
                <a:solidFill>
                  <a:srgbClr val="262626"/>
                </a:solidFill>
              </a:defRPr>
            </a:pPr>
            <a:r>
              <a:t>• Equipment Skew: Hydraulic Presses represent only 23% of the fleet but generate 47.9% of all plant alarms (1,202) and suffer 11.89 hours average downtime.</a:t>
            </a:r>
          </a:p>
          <a:p>
            <a:pPr>
              <a:spcBef>
                <a:spcPts val="800"/>
              </a:spcBef>
              <a:defRPr sz="1100">
                <a:solidFill>
                  <a:srgbClr val="262626"/>
                </a:solidFill>
              </a:defRPr>
            </a:pPr>
            <a:r>
              <a:t>• The Load Paradox: Operating load has virtually ZERO correlation (r = -0.142) with machine downtime. Machine age, mechanical vibration, and heat buildup are the actual failure drivers.</a:t>
            </a:r>
          </a:p>
          <a:p>
            <a:pPr>
              <a:spcBef>
                <a:spcPts val="800"/>
              </a:spcBef>
              <a:defRPr sz="1100">
                <a:solidFill>
                  <a:srgbClr val="262626"/>
                </a:solidFill>
              </a:defRPr>
            </a:pPr>
            <a:r>
              <a:t>• Pre-Service Trajectory: Sensor vibration exhibits a statistically significant upward climb (+11.8%) starting 7 days prior to service events, peaking at 2.85 mm/s within 24 hours of intervention.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980B9"/>
                </a:solidFill>
              </a:defRPr>
            </a:pPr>
            <a:r>
              <a:t>MECHACARE INDUSTRIAL SYSTEMS | DATA SCIENCE ASSESSMENT 2</a:t>
            </a:r>
          </a:p>
          <a:p>
            <a:pPr>
              <a:defRPr sz="2200" b="1">
                <a:solidFill>
                  <a:srgbClr val="1F4E78"/>
                </a:solidFill>
              </a:defRPr>
            </a:pPr>
            <a:r>
              <a:t>Analytical Questions 1, 4 &amp; 5: Sensor Extremes, Load vs Downtime</a:t>
            </a:r>
          </a:p>
        </p:txBody>
      </p:sp>
      <p:pic>
        <p:nvPicPr>
          <p:cNvPr id="3" name="Picture 2" descr="01_sensor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035040" cy="1758107"/>
          </a:xfrm>
          <a:prstGeom prst="rect">
            <a:avLst/>
          </a:prstGeom>
        </p:spPr>
      </p:pic>
      <p:pic>
        <p:nvPicPr>
          <p:cNvPr id="4" name="Picture 3" descr="04_operating_load_vs_downti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371600"/>
            <a:ext cx="4572000" cy="280342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84632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E78"/>
                </a:solidFill>
              </a:defRPr>
            </a:pPr>
            <a:r>
              <a:t>Key Evidentiary Findings from Actual Dataset:</a:t>
            </a:r>
          </a:p>
          <a:p>
            <a:pPr>
              <a:spcBef>
                <a:spcPts val="400"/>
              </a:spcBef>
              <a:defRPr sz="1050"/>
            </a:pPr>
            <a:r>
              <a:t>• Q1 (Abnormal Ranges): MCH-004 exhibited the highest vibration peak plant-wide (17.20 mm/s, over 3.9x normal threshold) and 1,580 warning hours. MCH-021 registered extreme thermal stress peaking at 95.96°C.</a:t>
            </a:r>
          </a:p>
          <a:p>
            <a:pPr>
              <a:spcBef>
                <a:spcPts val="400"/>
              </a:spcBef>
              <a:defRPr sz="1050"/>
            </a:pPr>
            <a:r>
              <a:t>• Q4 (Load Paradox): Average operating load across all machines remains constant (~65.0%). Machines in the low downtime tier average 65.03% load, while high downtime machines average 65.02%. Load does not explain failure.</a:t>
            </a:r>
          </a:p>
          <a:p>
            <a:pPr>
              <a:spcBef>
                <a:spcPts val="400"/>
              </a:spcBef>
              <a:defRPr sz="1050"/>
            </a:pPr>
            <a:r>
              <a:t>• Q5 (Machine Types): Hydraulic Presses average 11.89h downtime/machine. CNC Lathes require the highest service count (20 services = 2.0/machine). Conveyors have lowest downtime per event (3.46h) but frequent friction alarms.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980B9"/>
                </a:solidFill>
              </a:defRPr>
            </a:pPr>
            <a:r>
              <a:t>MECHACARE INDUSTRIAL SYSTEMS | DATA SCIENCE ASSESSMENT 2</a:t>
            </a:r>
          </a:p>
          <a:p>
            <a:pPr>
              <a:defRPr sz="2200" b="1">
                <a:solidFill>
                  <a:srgbClr val="1F4E78"/>
                </a:solidFill>
              </a:defRPr>
            </a:pPr>
            <a:r>
              <a:t>Analytical Questions 2 &amp; 3: Failure Signatures &amp; Alarm Frequency</a:t>
            </a:r>
          </a:p>
        </p:txBody>
      </p:sp>
      <p:pic>
        <p:nvPicPr>
          <p:cNvPr id="3" name="Picture 2" descr="02_sensor_degradation_before_mainten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2534458"/>
          </a:xfrm>
          <a:prstGeom prst="rect">
            <a:avLst/>
          </a:prstGeom>
        </p:spPr>
      </p:pic>
      <p:pic>
        <p:nvPicPr>
          <p:cNvPr id="4" name="Picture 3" descr="03_alarm_frequency_and_sever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371600"/>
            <a:ext cx="5394960" cy="19988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754880"/>
            <a:ext cx="10698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E78"/>
                </a:solidFill>
              </a:defRPr>
            </a:pPr>
            <a:r>
              <a:t>Operational Degradation Signatures &amp; Cleansing Evidence:</a:t>
            </a:r>
          </a:p>
          <a:p>
            <a:pPr>
              <a:spcBef>
                <a:spcPts val="400"/>
              </a:spcBef>
              <a:defRPr sz="1050"/>
            </a:pPr>
            <a:r>
              <a:t>• Q2 (Pre-Service Trajectory): Plant vibration baseline averages 2.55 mm/s. 7 days prior to service, it climbs to 2.79 mm/s; at 48h-24h it hits 2.84 mm/s; and within 24h of failure it peaks at 2.85 mm/s (+11.8% elevation). Temperature similarly rises from 58.2°C to 59.1°C.</a:t>
            </a:r>
          </a:p>
          <a:p>
            <a:pPr>
              <a:spcBef>
                <a:spcPts val="400"/>
              </a:spcBef>
              <a:defRPr sz="1050"/>
            </a:pPr>
            <a:r>
              <a:t>• Q3 (Alarm Normalization): Standardized 7 inconsistent sensor strings into 3 root types: High Temperature (1,084 events, 43.2%), High Vibration (1,080 events, 43.0%), and Current Spikes (346 events, 13.8%).</a:t>
            </a:r>
          </a:p>
          <a:p>
            <a:pPr>
              <a:spcBef>
                <a:spcPts val="400"/>
              </a:spcBef>
              <a:defRPr sz="1050"/>
            </a:pPr>
            <a:r>
              <a:t>• Severity Distribution: Critical severity accounts for 49.2% (1,236 alarms) vs 50.8% Warning (1,274 alarms). High temperature critical events represent the primary emergency shutdown trigger.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980B9"/>
                </a:solidFill>
              </a:defRPr>
            </a:pPr>
            <a:r>
              <a:t>MECHACARE INDUSTRIAL SYSTEMS | DATA SCIENCE ASSESSMENT 2</a:t>
            </a:r>
          </a:p>
          <a:p>
            <a:pPr>
              <a:defRPr sz="2200" b="1">
                <a:solidFill>
                  <a:srgbClr val="1F4E78"/>
                </a:solidFill>
              </a:defRPr>
            </a:pPr>
            <a:r>
              <a:t>Analytical Question 6: Chronic Machines &amp; Repeat Failure Patterns</a:t>
            </a:r>
          </a:p>
        </p:txBody>
      </p:sp>
      <p:pic>
        <p:nvPicPr>
          <p:cNvPr id="3" name="Picture 2" descr="06_repeat_failure_patte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260111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589520" y="1371600"/>
            <a:ext cx="3840480" cy="3291840"/>
          </a:xfrm>
          <a:prstGeom prst="roundRect">
            <a:avLst/>
          </a:prstGeom>
          <a:solidFill>
            <a:srgbClr val="F2F4F7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F4E78"/>
                </a:solidFill>
              </a:defRPr>
            </a:pPr>
            <a:r>
              <a:t>Top Repeat Failure Assets (3 Services):</a:t>
            </a:r>
          </a:p>
          <a:p>
            <a:pPr>
              <a:spcBef>
                <a:spcPts val="400"/>
              </a:spcBef>
              <a:defRPr sz="950"/>
            </a:pPr>
            <a:r>
              <a:t>• MCH-005 (CNC Lathe, 5y): 10.31h downtime. Interventions: Calibration -&gt; Lubrication -&gt; Inspection. Lack of component overhaul allows alignment drift to recur.</a:t>
            </a:r>
          </a:p>
          <a:p>
            <a:pPr>
              <a:spcBef>
                <a:spcPts val="400"/>
              </a:spcBef>
              <a:defRPr sz="950"/>
            </a:pPr>
            <a:r>
              <a:t>• MCH-016 (Conveyor, 9y): 13.82h downtime. Progressive failure: Lubrication starved -&gt; Motor burned -&gt; Bearing replaced. Clear cascading wear.</a:t>
            </a:r>
          </a:p>
          <a:p>
            <a:pPr>
              <a:spcBef>
                <a:spcPts val="400"/>
              </a:spcBef>
              <a:defRPr sz="950"/>
            </a:pPr>
            <a:r>
              <a:t>• MCH-022 (CNC Lathe, 1y): 12.54h downtime. Infant mortality: 2 recalibrations and 1 lubrication in first 90 days. Indicates commissioning / assembly defects.</a:t>
            </a:r>
          </a:p>
          <a:p>
            <a:pPr>
              <a:spcBef>
                <a:spcPts val="400"/>
              </a:spcBef>
              <a:defRPr sz="950"/>
            </a:pPr>
            <a:r>
              <a:t>• MCH-028 (CNC Lathe, 9y): 12.62h downtime. Cascading wear: Headstock bearing replacement followed by lubrication and motor repair.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84632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E78"/>
                </a:solidFill>
              </a:defRPr>
            </a:pPr>
            <a:r>
              <a:t>Strategic Engineering Lessons from Repeat Failures:</a:t>
            </a:r>
          </a:p>
          <a:p>
            <a:pPr>
              <a:spcBef>
                <a:spcPts val="400"/>
              </a:spcBef>
              <a:defRPr sz="1050"/>
            </a:pPr>
            <a:r>
              <a:t>• Infant Mortality vs Wear-out: Chronic failures occur at opposite ends of asset lifecycle: Brand-new machines (MCH-022, age 1y) suffer assembly/alignment bedding issues, while 9-year assets (MCH-016, MCH-028) experience mechanical cascading fatigue.</a:t>
            </a:r>
          </a:p>
          <a:p>
            <a:pPr>
              <a:spcBef>
                <a:spcPts val="400"/>
              </a:spcBef>
              <a:defRPr sz="1050"/>
            </a:pPr>
            <a:r>
              <a:t>• Preventing Cascading Damage: MCH-016 proves that insufficient initial lubrication creates downstream motor overheating and bearing seizure, tripling total repair cost.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980B9"/>
                </a:solidFill>
              </a:defRPr>
            </a:pPr>
            <a:r>
              <a:t>MECHACARE INDUSTRIAL SYSTEMS | DATA SCIENCE ASSESSMENT 2</a:t>
            </a:r>
          </a:p>
          <a:p>
            <a:pPr>
              <a:defRPr sz="2200" b="1">
                <a:solidFill>
                  <a:srgbClr val="1F4E78"/>
                </a:solidFill>
              </a:defRPr>
            </a:pPr>
            <a:r>
              <a:t>Feature Engineering, Modeling Rigor &amp; Predictive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F4E78"/>
                </a:solidFill>
              </a:defRPr>
            </a:pPr>
            <a:r>
              <a:t>Feature Engineering &amp; Selection:</a:t>
            </a:r>
          </a:p>
          <a:p>
            <a:pPr>
              <a:spcBef>
                <a:spcPts val="600"/>
              </a:spcBef>
              <a:defRPr sz="1050"/>
            </a:pPr>
            <a:r>
              <a:t>• Rolling Sensor Dynamics: Engineered 7-day rolling mean, max vibration, and rolling temperature to capture mechanical degradation slope without lookahead bias.</a:t>
            </a:r>
          </a:p>
          <a:p>
            <a:pPr>
              <a:spcBef>
                <a:spcPts val="600"/>
              </a:spcBef>
              <a:defRPr sz="1050"/>
            </a:pPr>
            <a:r>
              <a:t>• Event Memory: Created cumulative sensor warning hours (sensor_warning), historical service counts, and prior downtime hours per machine.</a:t>
            </a:r>
          </a:p>
          <a:p>
            <a:pPr>
              <a:spcBef>
                <a:spcPts val="600"/>
              </a:spcBef>
              <a:defRPr sz="1050"/>
            </a:pPr>
            <a:r>
              <a:t>• Correlation &amp; PCA Assessment: Multicollinearity observed between vibration_mean and rolling vibration (r &gt; 0.85). PCA was evaluated but NOT recommended for production deployment because preserving physical interpretability (mm/s, °C) is vital for field technicians.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F4E78"/>
                </a:solidFill>
              </a:defRPr>
            </a:pPr>
            <a:r>
              <a:t>Model Validation &amp; The Class Imbalance Reality:</a:t>
            </a:r>
          </a:p>
          <a:p>
            <a:pPr>
              <a:spcBef>
                <a:spcPts val="600"/>
              </a:spcBef>
              <a:defRPr sz="1050"/>
            </a:pPr>
            <a:r>
              <a:t>• Chronological Split: Trained on Jan 1 - Feb 28, 2026 (1,770 machine-days); evaluated out-of-time on March 1 - March 31, 2026 (930 machine-days) to strictly prevent data leakage.</a:t>
            </a:r>
          </a:p>
          <a:p>
            <a:pPr>
              <a:spcBef>
                <a:spcPts val="600"/>
              </a:spcBef>
              <a:defRPr sz="1050"/>
            </a:pPr>
            <a:r>
              <a:t>• Model Comparison: Evaluated Stratified Baseline vs Balanced Random Forest (100 trees, max_depth=5). Baseline F1 = 0.11; Random Forest F1 = 0.18, Precision = 13.1%, Recall = 28.3%, ROC-AUC = 0.534, PR-AUC = 0.115.</a:t>
            </a:r>
          </a:p>
          <a:p>
            <a:pPr>
              <a:spcBef>
                <a:spcPts val="600"/>
              </a:spcBef>
              <a:defRPr sz="1050"/>
            </a:pPr>
            <a:r>
              <a:t>• Why High Accuracy is Deceptive: Overall accuracy appears high (74%), but this is purely driven by class imbalance (negative class = 90.1% of test set). High accuracy is a statistical illusion when failures are rare.</a:t>
            </a:r>
          </a:p>
          <a:p>
            <a:pPr>
              <a:spcBef>
                <a:spcPts val="600"/>
              </a:spcBef>
              <a:defRPr sz="1050"/>
            </a:pPr>
            <a:r>
              <a:t>• Critical Scientific Distinction: With only 51 historical service events across 90 days, machine learning cannot produce a clinically reliable failure forecast. MechaCare must rely on our Rule-Based Multi-Sensor Health Score for immediate scheduling.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980B9"/>
                </a:solidFill>
              </a:defRPr>
            </a:pPr>
            <a:r>
              <a:t>MECHACARE INDUSTRIAL SYSTEMS | DATA SCIENCE ASSESSMENT 2</a:t>
            </a:r>
          </a:p>
          <a:p>
            <a:pPr>
              <a:defRPr sz="2200" b="1">
                <a:solidFill>
                  <a:srgbClr val="1F4E78"/>
                </a:solidFill>
              </a:defRPr>
            </a:pPr>
            <a:r>
              <a:t>Prioritization Framework &amp; Strategic Business Recommendations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474720" cy="4937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5F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D95F02"/>
                </a:solidFill>
              </a:defRPr>
            </a:pPr>
            <a:r>
              <a:t>Tier 1: Immediate Overhaul (Days 1-7)</a:t>
            </a:r>
          </a:p>
          <a:p>
            <a:pPr>
              <a:spcBef>
                <a:spcPts val="800"/>
              </a:spcBef>
              <a:defRPr sz="950">
                <a:solidFill>
                  <a:srgbClr val="262626"/>
                </a:solidFill>
              </a:defRPr>
            </a:pPr>
            <a:r>
              <a:t>• MCH-004 (Hydraulic Press): Plant-worst 21.5h downtime &amp; 457 alarms. Overhaul main hydraulic pump, relief valve &amp; seals.</a:t>
            </a:r>
          </a:p>
          <a:p>
            <a:pPr>
              <a:spcBef>
                <a:spcPts val="800"/>
              </a:spcBef>
              <a:defRPr sz="950">
                <a:solidFill>
                  <a:srgbClr val="262626"/>
                </a:solidFill>
              </a:defRPr>
            </a:pPr>
            <a:r>
              <a:t>• MCH-014 (Compressor): 19.2h downtime, severe thermal spikes. Clean intercooler &amp; replace discharge reed valves.</a:t>
            </a:r>
          </a:p>
          <a:p>
            <a:pPr>
              <a:spcBef>
                <a:spcPts val="800"/>
              </a:spcBef>
              <a:defRPr sz="950">
                <a:solidFill>
                  <a:srgbClr val="262626"/>
                </a:solidFill>
              </a:defRPr>
            </a:pPr>
            <a:r>
              <a:t>• MCH-015 (CNC Lathe): 16.7h downtime, 10.3 mm/s vibration. Conduct laser spindle alignment &amp; bearing runout check.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43400" y="1371600"/>
            <a:ext cx="3474720" cy="4937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980B9"/>
                </a:solidFill>
              </a:defRPr>
            </a:pPr>
            <a:r>
              <a:t>Tier 2: Lubrication &amp; Repeat-Failure Program</a:t>
            </a:r>
          </a:p>
          <a:p>
            <a:pPr>
              <a:spcBef>
                <a:spcPts val="800"/>
              </a:spcBef>
              <a:defRPr sz="950">
                <a:solidFill>
                  <a:srgbClr val="262626"/>
                </a:solidFill>
              </a:defRPr>
            </a:pPr>
            <a:r>
              <a:t>• Conveyor Fleet Reliability: Implement automatic greasing system on MCH-016 &amp; MCH-025 to stop lubricant starvation from destroying motors.</a:t>
            </a:r>
          </a:p>
          <a:p>
            <a:pPr>
              <a:spcBef>
                <a:spcPts val="800"/>
              </a:spcBef>
              <a:defRPr sz="950">
                <a:solidFill>
                  <a:srgbClr val="262626"/>
                </a:solidFill>
              </a:defRPr>
            </a:pPr>
            <a:r>
              <a:t>• Commissioning Quality Gate: Audit newly commissioned assets (MCH-022, 1y old) with mandatory 100-hour vibration &amp; torque verification.</a:t>
            </a:r>
          </a:p>
          <a:p>
            <a:pPr>
              <a:spcBef>
                <a:spcPts val="800"/>
              </a:spcBef>
              <a:defRPr sz="950">
                <a:solidFill>
                  <a:srgbClr val="262626"/>
                </a:solidFill>
              </a:defRPr>
            </a:pPr>
            <a:r>
              <a:t>• Downtime Reduction Goal: Eliminates ~65 hours of chronic recurring downtime in the next quarter.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80" y="1371600"/>
            <a:ext cx="3474720" cy="4937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F4E78"/>
                </a:solidFill>
              </a:defRPr>
            </a:pPr>
            <a:r>
              <a:t>Tier 3: Operational ROI &amp; Architecture</a:t>
            </a:r>
          </a:p>
          <a:p>
            <a:pPr>
              <a:spcBef>
                <a:spcPts val="800"/>
              </a:spcBef>
              <a:defRPr sz="950">
                <a:solidFill>
                  <a:srgbClr val="262626"/>
                </a:solidFill>
              </a:defRPr>
            </a:pPr>
            <a:r>
              <a:t>• Telemetry Thresholds: Deploy real-time automated alerts at 4.40 mm/s vibration and 78.0°C temperature with automated work orders.</a:t>
            </a:r>
          </a:p>
          <a:p>
            <a:pPr>
              <a:spcBef>
                <a:spcPts val="800"/>
              </a:spcBef>
              <a:defRPr sz="950">
                <a:solidFill>
                  <a:srgbClr val="262626"/>
                </a:solidFill>
              </a:defRPr>
            </a:pPr>
            <a:r>
              <a:t>• Sensor Instrumentation: Add IoT acoustic sensors to Hydraulic Presses to detect cavitation before pump failure occurs.</a:t>
            </a:r>
          </a:p>
          <a:p>
            <a:pPr>
              <a:spcBef>
                <a:spcPts val="800"/>
              </a:spcBef>
              <a:defRPr sz="950">
                <a:solidFill>
                  <a:srgbClr val="262626"/>
                </a:solidFill>
              </a:defRPr>
            </a:pPr>
            <a:r>
              <a:t>• Projected Business ROI: Preventing 120 hours of unplanned downtime saves MechaCare an estimated $180,000+ annually.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